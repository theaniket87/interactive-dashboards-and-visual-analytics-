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7D414-BDF1-4E30-8475-0D5B55E93E90}" v="56" dt="2025-12-02T22:13:02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75F74-21A9-4D87-BFF4-2B02CEA0EBC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A5DC5-8232-493A-B823-E44DAE1C8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407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A5DC5-8232-493A-B823-E44DAE1C80A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92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F117-0D4E-B852-27B7-55C73BC6E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C58A6-348B-18A0-33A8-0325850EB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55F61-B88C-97E2-722D-35EF3321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DDD72-FDD8-16CB-0915-D7C89745B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75F9E-E58F-742E-752A-77D8AC7ED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8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F3CD-874A-57C3-C9A6-C5406B06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F3F13-B7AE-4DFA-DB8D-8F74393DC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5BE-ED9B-3D3E-A996-D01B3E83D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C91EB-B16F-6205-A9E6-C9B0583E4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0C1F2-22F1-EDD2-06AB-0D4CF71C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2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8129-E060-F083-DC84-5AD488B7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608DD-1F8B-CD89-CF7A-07F21726B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7400E-2B3F-F6D1-506B-CF0B141F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A9A1D-F8C3-DBB1-9027-386FF44E5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A229C-E79E-4D29-C865-A885D1B0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5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E414-FD36-49CE-40AB-754FF32A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C94A1-14A5-7111-C6FE-471D8602C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E38B0-FA98-CA38-2D47-53924CFC3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0F777-6D3A-5A30-84E0-E203BDD4B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155FF-661D-3627-8F92-88617ED4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3A8B3-2C07-AA9D-F109-5B47C320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3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17177-A1E6-5C6F-2C14-DD126102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C3362-1AE3-F03F-04C7-371464570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FE66D-3C12-D342-22E0-B6120AF42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4B148-E6BD-466D-C8FA-AE244A4086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E81CA-95C6-DD02-50D7-CB39BDDD3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2570B-B7B2-AEE1-8CC3-E4515CE6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30610-EB66-98C3-AFCB-0E24DC1EE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EF9EA-4137-86BD-3EF4-54D7B753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79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D100-39E4-F7E8-4C6D-6FF00E7C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B71974-DDB4-48C7-B789-A0B876D7D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63496-2399-731A-D42B-AAB871A07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AB3ED-AFFE-3407-A468-E4901214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38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D6121-A0B5-F4F7-9013-2F590C2D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420587-B03C-35B4-59EA-BE7460954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D2730-DD4F-D7D7-236B-0E90884D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77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3A77-B175-5EBD-C242-9CEF9F8A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EAC2E-EC3C-BCE2-8E22-4756B4CDD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BAD87-A9D7-D4B3-3D2B-6EFCC7471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4A886-8EDE-8D43-11E4-57B4E72D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B07AA-6E4B-FD30-C802-D8E62FCA0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AE273-0EFB-2F5E-2096-8C5106862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3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E682-6804-F678-7D74-A12C744C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437F3A-5F7B-7ED9-EDBF-713984ED6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9C93F-9D15-F25E-51A6-E9197BF67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064B1-3899-FDA5-95A5-06D82FE2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15B2A-0160-E196-CC0A-A0015EA62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D13AA-89B0-3DBE-2C57-AE4B3683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0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0979-94C4-D4B1-6968-FBCB9E7C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E7EC2-68C6-96AD-62BA-CDEFCD557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DCCC-BD2E-522F-A956-E1AFC8C24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23762-517A-B1E2-B061-505356E4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C3B7E-7370-FEA0-525B-243657A4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7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21777-DBA2-552A-025B-71FBAF5AF8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C7668-0886-7EE3-C75D-BD3339094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3883D-B1CD-B54E-1F71-0E95A9A8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0AB77-A4C4-284C-A69C-AFC1D1AF3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4A78E-92B6-DCB0-86E6-20A907BA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48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5A60D9-1398-643E-5580-CC8275564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B44AA-02AC-A5D0-694B-DE1A73F85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0A9D5-73A0-3339-B806-977524348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488C3-CB6C-145D-8A68-F648C99EC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96219-825F-97EA-D4CD-7D2EF1C61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4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1" y="-1"/>
            <a:ext cx="266700" cy="2746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pic>
        <p:nvPicPr>
          <p:cNvPr id="9" name="Picture 8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90562"/>
            <a:ext cx="3733800" cy="919163"/>
          </a:xfrm>
          <a:prstGeom prst="rect">
            <a:avLst/>
          </a:prstGeom>
        </p:spPr>
      </p:pic>
      <p:pic>
        <p:nvPicPr>
          <p:cNvPr id="11" name="Picture 10" descr="3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690562"/>
            <a:ext cx="1495425" cy="9191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1809750"/>
            <a:ext cx="4924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Greater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Noida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Institute of Technology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Engineering Institute (Greater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Noida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1" y="3429000"/>
            <a:ext cx="81533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b="1" dirty="0"/>
              <a:t>Title :-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INTERACTIVE DASHBOARDS AND VISUAL ANALYTICS: ENHANCING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 DECISION MAKING IN BUSINESS INTELLIGENCE 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0551" y="5122450"/>
            <a:ext cx="822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Supervisior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                                                   Submitted By :- 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Mr.Harendra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Singh                             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Aniket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Kushwaha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(2401320140028)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CO.Supervisior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Dr. Abdul Alim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1" y="342564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Introduction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551" y="1389354"/>
            <a:ext cx="8229600" cy="2755659"/>
          </a:xfrm>
        </p:spPr>
        <p:txBody>
          <a:bodyPr>
            <a:normAutofit/>
          </a:bodyPr>
          <a:lstStyle/>
          <a:p>
            <a:pPr marL="0" lvl="0" indent="0"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400" dirty="0">
                <a:cs typeface="Times New Roman" pitchFamily="18" charset="0"/>
              </a:rPr>
              <a:t>BI Integrates data collection, analysis, and  visualization.</a:t>
            </a:r>
          </a:p>
          <a:p>
            <a:pPr marL="0" lvl="0" indent="0"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sz="2400" dirty="0">
              <a:cs typeface="Times New Roman" pitchFamily="18" charset="0"/>
            </a:endParaRPr>
          </a:p>
          <a:p>
            <a:pPr marL="0" lvl="0" indent="0"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400" dirty="0"/>
              <a:t>An interactive dashboard is a visual interface that displays key performance indicators (KPIs), charts, and metric in a single screen.</a:t>
            </a:r>
          </a:p>
          <a:p>
            <a:pPr marL="0" lvl="0" indent="0" defTabSz="91440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/>
          </a:p>
          <a:p>
            <a:pPr marL="0" lvl="0" indent="0"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400" dirty="0"/>
              <a:t>Visual Analytics is done in Descriptive Analysis, which is one of the four types of Data Analytics Categories</a:t>
            </a:r>
            <a:endParaRPr lang="en-US" sz="2400" dirty="0"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0"/>
            <a:ext cx="266700" cy="3539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7" name="Picture 6" descr="111.jpeg">
            <a:extLst>
              <a:ext uri="{FF2B5EF4-FFF2-40B4-BE49-F238E27FC236}">
                <a16:creationId xmlns:a16="http://schemas.microsoft.com/office/drawing/2014/main" id="{794405B2-BD93-3C3D-FC27-7A1D27C4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0" y="4262895"/>
            <a:ext cx="5486400" cy="2362200"/>
          </a:xfrm>
          <a:prstGeom prst="rect">
            <a:avLst/>
          </a:prstGeom>
        </p:spPr>
      </p:pic>
      <p:pic>
        <p:nvPicPr>
          <p:cNvPr id="8" name="Picture 7" descr="1.jpeg">
            <a:extLst>
              <a:ext uri="{FF2B5EF4-FFF2-40B4-BE49-F238E27FC236}">
                <a16:creationId xmlns:a16="http://schemas.microsoft.com/office/drawing/2014/main" id="{91094F48-3904-C7FE-156E-5D010428C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556" y="-14256"/>
            <a:ext cx="2379444" cy="5857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There is a clear need for an</a:t>
            </a:r>
            <a:r>
              <a:rPr lang="en-US" sz="2400" b="1" dirty="0"/>
              <a:t> interactive</a:t>
            </a:r>
            <a:r>
              <a:rPr lang="en-US" sz="2400" dirty="0"/>
              <a:t>, </a:t>
            </a:r>
            <a:r>
              <a:rPr lang="en-US" sz="2400" b="1" dirty="0"/>
              <a:t>user-friendly</a:t>
            </a:r>
            <a:r>
              <a:rPr lang="en-US" sz="2400" dirty="0"/>
              <a:t>, and </a:t>
            </a:r>
            <a:r>
              <a:rPr lang="en-US" sz="2400" b="1" dirty="0"/>
              <a:t>real-time</a:t>
            </a:r>
            <a:r>
              <a:rPr lang="en-US" sz="2400" dirty="0"/>
              <a:t> visual analytics dashboard that transforms raw data into intuitive, actionable insights. </a:t>
            </a:r>
          </a:p>
          <a:p>
            <a:r>
              <a:rPr lang="en-US" sz="2400" dirty="0"/>
              <a:t>This project aims to solve the problem by </a:t>
            </a:r>
            <a:r>
              <a:rPr lang="en-US" sz="2400" b="1" dirty="0"/>
              <a:t>designing</a:t>
            </a:r>
            <a:r>
              <a:rPr lang="en-US" sz="2400" dirty="0"/>
              <a:t> and </a:t>
            </a:r>
            <a:r>
              <a:rPr lang="en-US" sz="2400" b="1" dirty="0"/>
              <a:t>implementing </a:t>
            </a:r>
            <a:r>
              <a:rPr lang="en-US" sz="2400" dirty="0"/>
              <a:t>a BI-driven dashboard that enhances </a:t>
            </a:r>
            <a:r>
              <a:rPr lang="en-US" sz="2400" b="1" dirty="0"/>
              <a:t>decision</a:t>
            </a:r>
            <a:r>
              <a:rPr lang="en-US" sz="2400" dirty="0"/>
              <a:t>-</a:t>
            </a:r>
            <a:r>
              <a:rPr lang="en-US" sz="2400" b="1" dirty="0"/>
              <a:t>making</a:t>
            </a:r>
            <a:r>
              <a:rPr lang="en-US" sz="2400" dirty="0"/>
              <a:t>, improves operational efficiency, and empowers businesses to make strategic, informed, and faster decisions.</a:t>
            </a:r>
          </a:p>
          <a:p>
            <a:r>
              <a:rPr lang="en-US" sz="2400" dirty="0"/>
              <a:t>Growing use of dashboards in BI</a:t>
            </a:r>
          </a:p>
          <a:p>
            <a:pPr lvl="1"/>
            <a:r>
              <a:rPr lang="en-US" sz="2400" dirty="0"/>
              <a:t>Descriptive analytics through visuals</a:t>
            </a:r>
          </a:p>
          <a:p>
            <a:pPr lvl="1"/>
            <a:r>
              <a:rPr lang="en-US" sz="2400" dirty="0"/>
              <a:t>Interactive features enabling exploration</a:t>
            </a:r>
          </a:p>
          <a:p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-1"/>
            <a:ext cx="266700" cy="3539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7" name="Picture 6" descr="1.jpeg">
            <a:extLst>
              <a:ext uri="{FF2B5EF4-FFF2-40B4-BE49-F238E27FC236}">
                <a16:creationId xmlns:a16="http://schemas.microsoft.com/office/drawing/2014/main" id="{F7971059-28DF-0D88-C75C-043AFD078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802" y="1"/>
            <a:ext cx="2278197" cy="560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Context &amp; Data Sources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The dataset used for this project is </a:t>
            </a:r>
            <a:r>
              <a:rPr lang="en-US" sz="1800" b="1" dirty="0"/>
              <a:t>amazon.csv</a:t>
            </a:r>
            <a:r>
              <a:rPr lang="en-US" sz="1800" dirty="0"/>
              <a:t>, collected from Kaggle. It contains product-level information from an e-commerce platform. The dataset includes:</a:t>
            </a:r>
          </a:p>
          <a:p>
            <a:r>
              <a:rPr lang="en-US" sz="1800" b="1" dirty="0"/>
              <a:t>📌 Key Attributes</a:t>
            </a:r>
          </a:p>
          <a:p>
            <a:r>
              <a:rPr lang="en-US" sz="1800" b="1" dirty="0"/>
              <a:t>Product Details:</a:t>
            </a:r>
            <a:r>
              <a:rPr lang="en-US" sz="1800" dirty="0"/>
              <a:t> product name, category, description</a:t>
            </a:r>
          </a:p>
          <a:p>
            <a:r>
              <a:rPr lang="en-US" sz="1800" b="1" dirty="0"/>
              <a:t>Pricing Information: </a:t>
            </a:r>
            <a:r>
              <a:rPr lang="en-US" sz="1800" dirty="0"/>
              <a:t>actual </a:t>
            </a:r>
            <a:r>
              <a:rPr lang="en-US" sz="1800" dirty="0" err="1"/>
              <a:t>price,discounted</a:t>
            </a:r>
            <a:r>
              <a:rPr lang="en-US" sz="1800" dirty="0"/>
              <a:t> price</a:t>
            </a:r>
          </a:p>
          <a:p>
            <a:r>
              <a:rPr lang="en-US" sz="1800" b="1" dirty="0"/>
              <a:t>Ratings Data:</a:t>
            </a:r>
            <a:r>
              <a:rPr lang="en-US" sz="1800" dirty="0"/>
              <a:t> rating value, rating count</a:t>
            </a:r>
          </a:p>
          <a:p>
            <a:r>
              <a:rPr lang="en-US" sz="1800" b="1" dirty="0"/>
              <a:t>Seller &amp; Listing Information:</a:t>
            </a:r>
            <a:r>
              <a:rPr lang="en-US" sz="1800" dirty="0"/>
              <a:t> seller name, product link</a:t>
            </a:r>
          </a:p>
          <a:p>
            <a:r>
              <a:rPr lang="en-US" sz="1800" b="1" dirty="0"/>
              <a:t>Other Attributes:</a:t>
            </a:r>
            <a:r>
              <a:rPr lang="en-US" sz="1800" dirty="0"/>
              <a:t> image link, sub-category, stock availability</a:t>
            </a:r>
          </a:p>
          <a:p>
            <a:endParaRPr lang="en-US" sz="1800" dirty="0"/>
          </a:p>
          <a:p>
            <a:r>
              <a:rPr lang="en-US" sz="1800" b="1" dirty="0"/>
              <a:t>📌 Why This Dataset?</a:t>
            </a:r>
          </a:p>
          <a:p>
            <a:r>
              <a:rPr lang="en-US" sz="1800" dirty="0"/>
              <a:t>The dataset represents </a:t>
            </a:r>
            <a:r>
              <a:rPr lang="en-US" sz="1800" b="1" dirty="0"/>
              <a:t>realistic e-commerce operations</a:t>
            </a:r>
            <a:r>
              <a:rPr lang="en-US" sz="1800" dirty="0"/>
              <a:t>, allowing creation of dashboards such as:</a:t>
            </a:r>
          </a:p>
          <a:p>
            <a:r>
              <a:rPr lang="en-US" sz="1800" dirty="0"/>
              <a:t>Sales analytics</a:t>
            </a:r>
          </a:p>
          <a:p>
            <a:r>
              <a:rPr lang="en-US" sz="1800" dirty="0"/>
              <a:t>Pricing insights</a:t>
            </a:r>
          </a:p>
          <a:p>
            <a:r>
              <a:rPr lang="en-US" sz="1800" dirty="0"/>
              <a:t>Product comparison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0"/>
            <a:ext cx="266700" cy="3539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8" name="Picture 7" descr="1.jpeg">
            <a:extLst>
              <a:ext uri="{FF2B5EF4-FFF2-40B4-BE49-F238E27FC236}">
                <a16:creationId xmlns:a16="http://schemas.microsoft.com/office/drawing/2014/main" id="{B746A03C-2301-9B2B-7ADC-0F39EA7AC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746" y="-1"/>
            <a:ext cx="2377253" cy="5852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Goal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build an interactive BI dashboard that transforms complex business data into visually clear insights, enabling faster, smarter, and more informed decision-making.</a:t>
            </a:r>
          </a:p>
          <a:p>
            <a:r>
              <a:rPr lang="en-US" sz="2400" dirty="0"/>
              <a:t>To create an interactive BI dashboard for better insights.</a:t>
            </a:r>
          </a:p>
          <a:p>
            <a:r>
              <a:rPr lang="en-US" sz="2400" dirty="0"/>
              <a:t>To convert raw data into clear visual information.</a:t>
            </a:r>
          </a:p>
          <a:p>
            <a:r>
              <a:rPr lang="en-US" sz="2400" dirty="0"/>
              <a:t>To support faster and smarter decision-making.</a:t>
            </a:r>
          </a:p>
          <a:p>
            <a:r>
              <a:rPr lang="en-US" sz="2400" dirty="0"/>
              <a:t>To identify trends, patterns, and key business metrics.</a:t>
            </a:r>
          </a:p>
          <a:p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0"/>
            <a:ext cx="266700" cy="3539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7" name="Picture 6" descr="1.jpeg">
            <a:extLst>
              <a:ext uri="{FF2B5EF4-FFF2-40B4-BE49-F238E27FC236}">
                <a16:creationId xmlns:a16="http://schemas.microsoft.com/office/drawing/2014/main" id="{FB432927-96FE-0F37-626E-F2AF55CBD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20" y="1"/>
            <a:ext cx="2624879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Power BI: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Microsoft’s Interactive Analytics Tool.</a:t>
            </a:r>
          </a:p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Jupyter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Notebook: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Datagraphs,heatmaps,scatterplots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Google Data Studio: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 Collection.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Python Libraries:</a:t>
            </a:r>
          </a:p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/>
              <a:t>     • </a:t>
            </a:r>
            <a:r>
              <a:rPr lang="en-US" sz="2400" dirty="0"/>
              <a:t>Pandas • Numpy• Matplotlib • </a:t>
            </a:r>
            <a:r>
              <a:rPr lang="en-US" sz="2400" dirty="0" err="1"/>
              <a:t>Plotly</a:t>
            </a:r>
            <a:r>
              <a:rPr lang="en-US" sz="2400" dirty="0"/>
              <a:t> • Seaborn</a:t>
            </a:r>
          </a:p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Models: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Linear Regression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Algorithm: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Train &amp; Test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0"/>
            <a:ext cx="266700" cy="3539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7" name="Picture 6" descr="1.jpeg">
            <a:extLst>
              <a:ext uri="{FF2B5EF4-FFF2-40B4-BE49-F238E27FC236}">
                <a16:creationId xmlns:a16="http://schemas.microsoft.com/office/drawing/2014/main" id="{C6DB0BA9-0173-2232-EC80-71C508D40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642" y="-1"/>
            <a:ext cx="2575357" cy="633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73800"/>
            <a:ext cx="7886700" cy="1325563"/>
          </a:xfrm>
        </p:spPr>
        <p:txBody>
          <a:bodyPr/>
          <a:lstStyle/>
          <a:p>
            <a:r>
              <a:rPr lang="en-US" b="1" dirty="0"/>
              <a:t>Visual Analytics</a:t>
            </a:r>
            <a:endParaRPr b="1" dirty="0"/>
          </a:p>
        </p:txBody>
      </p:sp>
      <p:pic>
        <p:nvPicPr>
          <p:cNvPr id="19" name="Content Placeholder 18" descr="A graph of a distribution of rating&#10;&#10;AI-generated content may be incorrect.">
            <a:extLst>
              <a:ext uri="{FF2B5EF4-FFF2-40B4-BE49-F238E27FC236}">
                <a16:creationId xmlns:a16="http://schemas.microsoft.com/office/drawing/2014/main" id="{66EB1132-60E7-C01B-91AD-2AA964FCB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3938" y="3852037"/>
            <a:ext cx="4726687" cy="3078323"/>
          </a:xfrm>
        </p:spPr>
      </p:pic>
      <p:sp>
        <p:nvSpPr>
          <p:cNvPr id="4" name="Rectangle 3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0"/>
            <a:ext cx="266700" cy="3539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7" name="Picture 6" descr="1.jpeg">
            <a:extLst>
              <a:ext uri="{FF2B5EF4-FFF2-40B4-BE49-F238E27FC236}">
                <a16:creationId xmlns:a16="http://schemas.microsoft.com/office/drawing/2014/main" id="{488868D4-2533-9F73-8FD4-75AAD2CB1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224" y="1"/>
            <a:ext cx="2426775" cy="597408"/>
          </a:xfrm>
          <a:prstGeom prst="rect">
            <a:avLst/>
          </a:prstGeom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2E2ED2B9-29E7-1CAD-08A8-C64D0B0B9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3" y="1249680"/>
            <a:ext cx="4593337" cy="2602357"/>
          </a:xfrm>
          <a:prstGeom prst="rect">
            <a:avLst/>
          </a:prstGeom>
        </p:spPr>
      </p:pic>
      <p:pic>
        <p:nvPicPr>
          <p:cNvPr id="13" name="Picture 12" descr="A collage of graphs&#10;&#10;AI-generated content may be incorrect.">
            <a:extLst>
              <a:ext uri="{FF2B5EF4-FFF2-40B4-BE49-F238E27FC236}">
                <a16:creationId xmlns:a16="http://schemas.microsoft.com/office/drawing/2014/main" id="{D8B480D7-C333-0E6A-DCA0-262CAA889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" y="1249680"/>
            <a:ext cx="4017263" cy="5608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F79D4183-3BDD-BAFB-5CDA-A3A912B24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" y="573026"/>
            <a:ext cx="8420100" cy="6400798"/>
          </a:xfrm>
        </p:spPr>
      </p:pic>
      <p:sp>
        <p:nvSpPr>
          <p:cNvPr id="4" name="Rectangle 3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0"/>
            <a:ext cx="266700" cy="3539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7" name="Picture 6" descr="1.jpeg">
            <a:extLst>
              <a:ext uri="{FF2B5EF4-FFF2-40B4-BE49-F238E27FC236}">
                <a16:creationId xmlns:a16="http://schemas.microsoft.com/office/drawing/2014/main" id="{C3722832-8C7B-7DC6-B9A3-B7A91FD23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76" y="1"/>
            <a:ext cx="2327723" cy="573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Interactive </a:t>
            </a:r>
            <a:r>
              <a:rPr b="1" dirty="0"/>
              <a:t>Dashboard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dirty="0"/>
              <a:t>•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Overview, Product, Seller, Profitability dashboards</a:t>
            </a:r>
          </a:p>
          <a:p>
            <a:pPr algn="just">
              <a:buNone/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• Interactivity: filters, drill‑down, slicers, tooltips</a:t>
            </a:r>
          </a:p>
          <a:p>
            <a:pPr algn="just">
              <a:buNone/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• Visuals: bar, line, heatmaps, KPIs, scatter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0"/>
            <a:ext cx="523874" cy="495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7" name="Picture 6" descr="WhatsApp Image 2025-12-03 at 12.08.21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81423"/>
            <a:ext cx="8059479" cy="3678865"/>
          </a:xfrm>
          <a:prstGeom prst="rect">
            <a:avLst/>
          </a:prstGeom>
        </p:spPr>
      </p:pic>
      <p:pic>
        <p:nvPicPr>
          <p:cNvPr id="8" name="Picture 7" descr="1.jpeg">
            <a:extLst>
              <a:ext uri="{FF2B5EF4-FFF2-40B4-BE49-F238E27FC236}">
                <a16:creationId xmlns:a16="http://schemas.microsoft.com/office/drawing/2014/main" id="{0B4C936C-39F9-C4B6-F934-362915CE0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904" y="1"/>
            <a:ext cx="2292096" cy="5642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250" y="-167482"/>
            <a:ext cx="7886700" cy="1325563"/>
          </a:xfrm>
        </p:spPr>
        <p:txBody>
          <a:bodyPr/>
          <a:lstStyle/>
          <a:p>
            <a:r>
              <a:rPr lang="en-US" b="1" dirty="0"/>
              <a:t>System Output (Prediction)</a:t>
            </a:r>
            <a:endParaRPr b="1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21C9DBD-DDE8-E9AB-D14B-9987999B38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4650" y="-385764"/>
            <a:ext cx="7886700" cy="435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calculates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business 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dataset, including: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₹7,976,911.28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Price: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₹5,444.99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4.09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Products Analyzed: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1337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Discount Percentage: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47.69%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outputs summarize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performance of products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0"/>
            <a:ext cx="523874" cy="495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7" name="Picture 6" descr="1.jpeg">
            <a:extLst>
              <a:ext uri="{FF2B5EF4-FFF2-40B4-BE49-F238E27FC236}">
                <a16:creationId xmlns:a16="http://schemas.microsoft.com/office/drawing/2014/main" id="{B6BE6466-F362-B672-081A-86A2EA3C8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784" y="-1"/>
            <a:ext cx="2109216" cy="597409"/>
          </a:xfrm>
          <a:prstGeom prst="rect">
            <a:avLst/>
          </a:prstGeom>
        </p:spPr>
      </p:pic>
      <p:pic>
        <p:nvPicPr>
          <p:cNvPr id="15" name="Picture 1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7773851-7A00-D25F-6A20-A498F2C75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2775385"/>
            <a:ext cx="4288538" cy="408261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691998-88E0-A90B-E876-CE5AAE9BA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190" y="2775385"/>
            <a:ext cx="5087110" cy="4082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1" y="18255"/>
            <a:ext cx="7886700" cy="1325563"/>
          </a:xfrm>
        </p:spPr>
        <p:txBody>
          <a:bodyPr/>
          <a:lstStyle/>
          <a:p>
            <a:r>
              <a:rPr b="1"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43584"/>
            <a:ext cx="7886700" cy="55961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✅ </a:t>
            </a:r>
            <a:r>
              <a:rPr lang="en-IN" sz="2400" b="1" dirty="0"/>
              <a:t>Conclusion</a:t>
            </a:r>
            <a:endParaRPr lang="en-US" sz="2400" dirty="0"/>
          </a:p>
          <a:p>
            <a:r>
              <a:rPr lang="en-US" sz="2400" dirty="0"/>
              <a:t>The interactive dashboard successfully transforms raw data into meaningful insights.</a:t>
            </a:r>
          </a:p>
          <a:p>
            <a:r>
              <a:rPr lang="en-US" sz="2400" dirty="0"/>
              <a:t>Key metrics like sales, pricing trends, ratings, and discounts were analyzed effectively.</a:t>
            </a:r>
          </a:p>
          <a:p>
            <a:r>
              <a:rPr lang="en-US" sz="2400" dirty="0"/>
              <a:t>The system supports better decision-making through visual analytics.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🚀 Future Work (Short &amp; Clear)</a:t>
            </a:r>
          </a:p>
          <a:p>
            <a:r>
              <a:rPr lang="en-US" sz="2400" dirty="0"/>
              <a:t>Integrate </a:t>
            </a:r>
            <a:r>
              <a:rPr lang="en-US" sz="2400" b="1" dirty="0"/>
              <a:t>real-time data updates</a:t>
            </a:r>
            <a:r>
              <a:rPr lang="en-US" sz="2400" dirty="0"/>
              <a:t> for live tracking.</a:t>
            </a:r>
          </a:p>
          <a:p>
            <a:r>
              <a:rPr lang="en-US" sz="2400" dirty="0"/>
              <a:t>Add </a:t>
            </a:r>
            <a:r>
              <a:rPr lang="en-US" sz="2400" b="1" dirty="0"/>
              <a:t>advanced ML models</a:t>
            </a:r>
            <a:r>
              <a:rPr lang="en-US" sz="2400" dirty="0"/>
              <a:t> for prediction and forecasting.</a:t>
            </a:r>
          </a:p>
          <a:p>
            <a:r>
              <a:rPr lang="en-US" sz="2400" dirty="0"/>
              <a:t>Include </a:t>
            </a:r>
            <a:r>
              <a:rPr lang="en-US" sz="2400" b="1" dirty="0"/>
              <a:t>customer segmentation</a:t>
            </a:r>
            <a:r>
              <a:rPr lang="en-US" sz="2400" dirty="0"/>
              <a:t> and behavior analysis.</a:t>
            </a:r>
          </a:p>
          <a:p>
            <a:r>
              <a:rPr lang="en-US" sz="2400" dirty="0"/>
              <a:t>Deploy dashboard on cloud with </a:t>
            </a:r>
            <a:r>
              <a:rPr lang="en-US" sz="2400" b="1" dirty="0"/>
              <a:t>automated refresh scheduling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0"/>
            <a:ext cx="523874" cy="495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7" name="Picture 6" descr="1.jpeg">
            <a:extLst>
              <a:ext uri="{FF2B5EF4-FFF2-40B4-BE49-F238E27FC236}">
                <a16:creationId xmlns:a16="http://schemas.microsoft.com/office/drawing/2014/main" id="{7DAFE4DE-8F95-68E8-8242-B89C95D82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46" y="-1"/>
            <a:ext cx="2377253" cy="5852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582" y="2867534"/>
            <a:ext cx="7886700" cy="1325563"/>
          </a:xfrm>
        </p:spPr>
        <p:txBody>
          <a:bodyPr>
            <a:noAutofit/>
          </a:bodyPr>
          <a:lstStyle/>
          <a:p>
            <a:r>
              <a:rPr lang="en-US" sz="9600" dirty="0">
                <a:latin typeface="Algerian" panose="04020705040A02060702" pitchFamily="82" charset="0"/>
              </a:rPr>
              <a:t>Thank You</a:t>
            </a:r>
            <a:endParaRPr sz="9600" dirty="0">
              <a:latin typeface="Algerian" panose="04020705040A02060702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266700" cy="685800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77300" y="0"/>
            <a:ext cx="2667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0551" y="0"/>
            <a:ext cx="523874" cy="495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12</a:t>
            </a:r>
          </a:p>
        </p:txBody>
      </p:sp>
      <p:pic>
        <p:nvPicPr>
          <p:cNvPr id="7" name="Picture 6" descr="1.jpeg">
            <a:extLst>
              <a:ext uri="{FF2B5EF4-FFF2-40B4-BE49-F238E27FC236}">
                <a16:creationId xmlns:a16="http://schemas.microsoft.com/office/drawing/2014/main" id="{93356F71-44BD-B74E-41DB-9B81B8511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46" y="-1"/>
            <a:ext cx="2377253" cy="585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</TotalTime>
  <Words>594</Words>
  <Application>Microsoft Office PowerPoint</Application>
  <PresentationFormat>On-screen Show (4:3)</PresentationFormat>
  <Paragraphs>93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Aptos</vt:lpstr>
      <vt:lpstr>Aptos Display</vt:lpstr>
      <vt:lpstr>Arial</vt:lpstr>
      <vt:lpstr>Times New Roman</vt:lpstr>
      <vt:lpstr>Wingdings</vt:lpstr>
      <vt:lpstr>Office Theme</vt:lpstr>
      <vt:lpstr>       </vt:lpstr>
      <vt:lpstr>Introduction</vt:lpstr>
      <vt:lpstr>Problem Statement</vt:lpstr>
      <vt:lpstr>Context &amp; Data Sources</vt:lpstr>
      <vt:lpstr>Project Goal</vt:lpstr>
      <vt:lpstr>Tools and Technologies</vt:lpstr>
      <vt:lpstr>Visual Analytics</vt:lpstr>
      <vt:lpstr>PowerPoint Presentation</vt:lpstr>
      <vt:lpstr>Interactive Dashboard Design</vt:lpstr>
      <vt:lpstr>System Output (Prediction)</vt:lpstr>
      <vt:lpstr>Conclusion &amp; Future Work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creator>Aman Raj</dc:creator>
  <dc:description>generated using python-pptx</dc:description>
  <cp:lastModifiedBy>Aniket Kushwaha</cp:lastModifiedBy>
  <cp:revision>11</cp:revision>
  <dcterms:created xsi:type="dcterms:W3CDTF">2013-01-27T09:14:16Z</dcterms:created>
  <dcterms:modified xsi:type="dcterms:W3CDTF">2025-12-04T04:27:44Z</dcterms:modified>
</cp:coreProperties>
</file>